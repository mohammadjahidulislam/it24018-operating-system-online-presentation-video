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0DC"/>
        </a:solidFill>
        <a:effectLst/>
      </p:bgPr>
    </p:bg>
    <p:spTree>
      <p:nvGrpSpPr>
        <p:cNvPr id="1" name=""/>
        <p:cNvGrpSpPr/>
        <p:nvPr/>
      </p:nvGrpSpPr>
      <p:grpSpPr>
        <a:xfrm>
          <a:off x="0" y="0"/>
          <a:ext cx="0" cy="0"/>
          <a:chOff x="0" y="0"/>
          <a:chExt cx="0" cy="0"/>
        </a:xfrm>
      </p:grpSpPr>
      <p:sp>
        <p:nvSpPr>
          <p:cNvPr id="6" name="TextBox 5"/>
          <p:cNvSpPr txBox="1"/>
          <p:nvPr/>
        </p:nvSpPr>
        <p:spPr>
          <a:xfrm>
            <a:off x="502920" y="1371600"/>
            <a:ext cx="10972800" cy="594360"/>
          </a:xfrm>
          <a:prstGeom prst="rect">
            <a:avLst/>
          </a:prstGeom>
          <a:noFill/>
        </p:spPr>
        <p:txBody>
          <a:bodyPr wrap="square">
            <a:spAutoFit/>
          </a:bodyPr>
          <a:lstStyle/>
          <a:p>
            <a:pPr algn="l"/>
            <a:r>
              <a:rPr sz="2800" b="1" i="0">
                <a:solidFill>
                  <a:srgbClr val="0D0D0D"/>
                </a:solidFill>
                <a:latin typeface="Calibri"/>
              </a:rPr>
              <a:t>PRESENTATION TOPIC: Steve Jobs</a:t>
            </a:r>
          </a:p>
        </p:txBody>
      </p:sp>
      <p:sp>
        <p:nvSpPr>
          <p:cNvPr id="7" name="TextBox 6"/>
          <p:cNvSpPr txBox="1"/>
          <p:nvPr/>
        </p:nvSpPr>
        <p:spPr>
          <a:xfrm>
            <a:off x="502920" y="2029968"/>
            <a:ext cx="9144000" cy="411480"/>
          </a:xfrm>
          <a:prstGeom prst="rect">
            <a:avLst/>
          </a:prstGeom>
          <a:noFill/>
        </p:spPr>
        <p:txBody>
          <a:bodyPr wrap="square">
            <a:spAutoFit/>
          </a:bodyPr>
          <a:lstStyle/>
          <a:p>
            <a:pPr algn="l"/>
            <a:r>
              <a:rPr sz="2000" b="1" i="0">
                <a:solidFill>
                  <a:srgbClr val="0D0D0D"/>
                </a:solidFill>
                <a:latin typeface="Calibri"/>
              </a:rPr>
              <a:t>Course Title: Operating System</a:t>
            </a:r>
          </a:p>
        </p:txBody>
      </p:sp>
      <p:sp>
        <p:nvSpPr>
          <p:cNvPr id="8" name="TextBox 7"/>
          <p:cNvSpPr txBox="1"/>
          <p:nvPr/>
        </p:nvSpPr>
        <p:spPr>
          <a:xfrm>
            <a:off x="502920" y="2468880"/>
            <a:ext cx="9144000" cy="411480"/>
          </a:xfrm>
          <a:prstGeom prst="rect">
            <a:avLst/>
          </a:prstGeom>
          <a:noFill/>
        </p:spPr>
        <p:txBody>
          <a:bodyPr wrap="square">
            <a:spAutoFit/>
          </a:bodyPr>
          <a:lstStyle/>
          <a:p>
            <a:pPr algn="l"/>
            <a:r>
              <a:rPr sz="2000" b="1" i="0">
                <a:solidFill>
                  <a:srgbClr val="0D0D0D"/>
                </a:solidFill>
                <a:latin typeface="Calibri"/>
              </a:rPr>
              <a:t>Course Code: ICT-2201</a:t>
            </a:r>
          </a:p>
        </p:txBody>
      </p:sp>
      <p:sp>
        <p:nvSpPr>
          <p:cNvPr id="9" name="Rectangle 8"/>
          <p:cNvSpPr/>
          <p:nvPr/>
        </p:nvSpPr>
        <p:spPr>
          <a:xfrm>
            <a:off x="365760" y="3063240"/>
            <a:ext cx="5394960" cy="315468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3200400"/>
            <a:ext cx="5029200" cy="2880360"/>
          </a:xfrm>
          <a:prstGeom prst="rect">
            <a:avLst/>
          </a:prstGeom>
          <a:noFill/>
        </p:spPr>
        <p:txBody>
          <a:bodyPr wrap="square">
            <a:spAutoFit/>
          </a:bodyPr>
          <a:lstStyle/>
          <a:p>
            <a:r>
              <a:rPr sz="1700" b="1">
                <a:solidFill>
                  <a:srgbClr val="0D0D0D"/>
                </a:solidFill>
                <a:latin typeface="Calibri"/>
              </a:rPr>
              <a:t>Presented By :</a:t>
            </a:r>
          </a:p>
          <a:p>
            <a:endParaRPr sz="1700" b="1">
              <a:solidFill>
                <a:srgbClr val="0D0D0D"/>
              </a:solidFill>
              <a:latin typeface="Calibri"/>
            </a:endParaRPr>
          </a:p>
          <a:p>
            <a:r>
              <a:rPr sz="1700" b="1">
                <a:solidFill>
                  <a:srgbClr val="0D0D0D"/>
                </a:solidFill>
                <a:latin typeface="Calibri"/>
              </a:rPr>
              <a:t>Md Jahidul Islam</a:t>
            </a:r>
          </a:p>
          <a:p>
            <a:r>
              <a:rPr sz="1700" b="1">
                <a:solidFill>
                  <a:srgbClr val="0D0D0D"/>
                </a:solidFill>
                <a:latin typeface="Calibri"/>
              </a:rPr>
              <a:t>ID: IT-24018</a:t>
            </a:r>
          </a:p>
          <a:p>
            <a:r>
              <a:rPr sz="1700" b="1">
                <a:solidFill>
                  <a:srgbClr val="0D0D0D"/>
                </a:solidFill>
                <a:latin typeface="Calibri"/>
              </a:rPr>
              <a:t>Department of Information and</a:t>
            </a:r>
          </a:p>
          <a:p>
            <a:r>
              <a:rPr sz="1700" b="1">
                <a:solidFill>
                  <a:srgbClr val="0D0D0D"/>
                </a:solidFill>
                <a:latin typeface="Calibri"/>
              </a:rPr>
              <a:t>Communication Technology,</a:t>
            </a:r>
          </a:p>
          <a:p>
            <a:r>
              <a:rPr sz="1700" b="1">
                <a:solidFill>
                  <a:srgbClr val="0D0D0D"/>
                </a:solidFill>
                <a:latin typeface="Calibri"/>
              </a:rPr>
              <a:t>MBSTU</a:t>
            </a:r>
          </a:p>
        </p:txBody>
      </p:sp>
      <p:sp>
        <p:nvSpPr>
          <p:cNvPr id="11" name="Rectangle 10"/>
          <p:cNvSpPr/>
          <p:nvPr/>
        </p:nvSpPr>
        <p:spPr>
          <a:xfrm>
            <a:off x="6309360" y="3063240"/>
            <a:ext cx="5486400" cy="315468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37960" y="3200400"/>
            <a:ext cx="5120640" cy="2880360"/>
          </a:xfrm>
          <a:prstGeom prst="rect">
            <a:avLst/>
          </a:prstGeom>
          <a:noFill/>
        </p:spPr>
        <p:txBody>
          <a:bodyPr wrap="square">
            <a:spAutoFit/>
          </a:bodyPr>
          <a:lstStyle/>
          <a:p>
            <a:r>
              <a:rPr sz="1700" b="1" dirty="0">
                <a:solidFill>
                  <a:srgbClr val="0D0D0D"/>
                </a:solidFill>
                <a:latin typeface="Calibri"/>
              </a:rPr>
              <a:t>Supervised By :</a:t>
            </a:r>
          </a:p>
          <a:p>
            <a:endParaRPr sz="1700" b="1" dirty="0">
              <a:solidFill>
                <a:srgbClr val="0D0D0D"/>
              </a:solidFill>
              <a:latin typeface="Calibri"/>
            </a:endParaRPr>
          </a:p>
          <a:p>
            <a:r>
              <a:rPr sz="1700" b="1" dirty="0">
                <a:solidFill>
                  <a:srgbClr val="0D0D0D"/>
                </a:solidFill>
                <a:latin typeface="Calibri"/>
              </a:rPr>
              <a:t>Dr. Nazrul Islam</a:t>
            </a:r>
          </a:p>
          <a:p>
            <a:r>
              <a:rPr sz="1700" b="1" dirty="0">
                <a:solidFill>
                  <a:srgbClr val="0D0D0D"/>
                </a:solidFill>
                <a:latin typeface="Calibri"/>
              </a:rPr>
              <a:t>Associate Professor,</a:t>
            </a:r>
          </a:p>
          <a:p>
            <a:r>
              <a:rPr sz="1700" b="1" dirty="0">
                <a:solidFill>
                  <a:srgbClr val="0D0D0D"/>
                </a:solidFill>
                <a:latin typeface="Calibri"/>
              </a:rPr>
              <a:t>Department of Information and</a:t>
            </a:r>
          </a:p>
          <a:p>
            <a:r>
              <a:rPr sz="1700" b="1" dirty="0">
                <a:solidFill>
                  <a:srgbClr val="0D0D0D"/>
                </a:solidFill>
                <a:latin typeface="Calibri"/>
              </a:rPr>
              <a:t>Communication Technology,</a:t>
            </a:r>
          </a:p>
          <a:p>
            <a:r>
              <a:rPr sz="1700" b="1" dirty="0">
                <a:solidFill>
                  <a:srgbClr val="0D0D0D"/>
                </a:solidFill>
                <a:latin typeface="Calibri"/>
              </a:rPr>
              <a:t>MBSTU</a:t>
            </a:r>
          </a:p>
        </p:txBody>
      </p:sp>
      <p:sp>
        <p:nvSpPr>
          <p:cNvPr id="14" name="Rectangle 13"/>
          <p:cNvSpPr/>
          <p:nvPr/>
        </p:nvSpPr>
        <p:spPr>
          <a:xfrm>
            <a:off x="5262193" y="-2443387"/>
            <a:ext cx="370704" cy="323409"/>
          </a:xfrm>
          <a:prstGeom prst="rect">
            <a:avLst/>
          </a:prstGeom>
          <a:solidFill>
            <a:srgbClr val="8B1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0DC"/>
        </a:solidFill>
        <a:effectLst/>
      </p:bgPr>
    </p:bg>
    <p:spTree>
      <p:nvGrpSpPr>
        <p:cNvPr id="1" name=""/>
        <p:cNvGrpSpPr/>
        <p:nvPr/>
      </p:nvGrpSpPr>
      <p:grpSpPr>
        <a:xfrm>
          <a:off x="0" y="0"/>
          <a:ext cx="0" cy="0"/>
          <a:chOff x="0" y="0"/>
          <a:chExt cx="0" cy="0"/>
        </a:xfrm>
      </p:grpSpPr>
      <p:sp>
        <p:nvSpPr>
          <p:cNvPr id="2" name="Rectangle 1"/>
          <p:cNvSpPr/>
          <p:nvPr/>
        </p:nvSpPr>
        <p:spPr>
          <a:xfrm>
            <a:off x="5257800" y="109728"/>
            <a:ext cx="1005840" cy="777240"/>
          </a:xfrm>
          <a:prstGeom prst="rect">
            <a:avLst/>
          </a:prstGeom>
          <a:solidFill>
            <a:srgbClr val="E8E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532120" y="246888"/>
            <a:ext cx="457200" cy="502920"/>
          </a:xfrm>
          <a:prstGeom prst="rect">
            <a:avLst/>
          </a:prstGeom>
          <a:solidFill>
            <a:srgbClr val="8B1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724144" y="-45720"/>
            <a:ext cx="73152" cy="182880"/>
          </a:xfrm>
          <a:prstGeom prst="rect">
            <a:avLst/>
          </a:prstGeom>
          <a:solidFill>
            <a:srgbClr val="C8A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754879" y="868680"/>
            <a:ext cx="2011680" cy="274320"/>
          </a:xfrm>
          <a:prstGeom prst="rect">
            <a:avLst/>
          </a:prstGeom>
          <a:noFill/>
        </p:spPr>
        <p:txBody>
          <a:bodyPr wrap="square">
            <a:spAutoFit/>
          </a:bodyPr>
          <a:lstStyle/>
          <a:p>
            <a:pPr algn="ctr"/>
            <a:r>
              <a:rPr sz="800" b="0" i="0">
                <a:solidFill>
                  <a:srgbClr val="555555"/>
                </a:solidFill>
                <a:latin typeface="Calibri"/>
              </a:rPr>
              <a:t>MBSTU</a:t>
            </a:r>
          </a:p>
        </p:txBody>
      </p:sp>
      <p:sp>
        <p:nvSpPr>
          <p:cNvPr id="6" name="Rectangle 5"/>
          <p:cNvSpPr/>
          <p:nvPr/>
        </p:nvSpPr>
        <p:spPr>
          <a:xfrm>
            <a:off x="0" y="0"/>
            <a:ext cx="12188952" cy="105156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82880"/>
            <a:ext cx="11430000" cy="731520"/>
          </a:xfrm>
          <a:prstGeom prst="rect">
            <a:avLst/>
          </a:prstGeom>
          <a:noFill/>
        </p:spPr>
        <p:txBody>
          <a:bodyPr wrap="square">
            <a:spAutoFit/>
          </a:bodyPr>
          <a:lstStyle/>
          <a:p>
            <a:pPr algn="l"/>
            <a:r>
              <a:rPr sz="3000" b="1" i="0">
                <a:solidFill>
                  <a:srgbClr val="0D0D0D"/>
                </a:solidFill>
                <a:latin typeface="Calibri"/>
              </a:rPr>
              <a:t>Introduction</a:t>
            </a:r>
          </a:p>
        </p:txBody>
      </p:sp>
      <p:sp>
        <p:nvSpPr>
          <p:cNvPr id="8" name="Rectangle 7"/>
          <p:cNvSpPr/>
          <p:nvPr/>
        </p:nvSpPr>
        <p:spPr>
          <a:xfrm>
            <a:off x="0" y="1051560"/>
            <a:ext cx="12188952" cy="54864"/>
          </a:xfrm>
          <a:prstGeom prst="rect">
            <a:avLst/>
          </a:prstGeom>
          <a:solidFill>
            <a:srgbClr val="4A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1234440"/>
            <a:ext cx="11430000" cy="347472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996" y="1435608"/>
            <a:ext cx="10972800" cy="3200400"/>
          </a:xfrm>
          <a:prstGeom prst="rect">
            <a:avLst/>
          </a:prstGeom>
          <a:noFill/>
        </p:spPr>
        <p:txBody>
          <a:bodyPr wrap="square">
            <a:spAutoFit/>
          </a:bodyPr>
          <a:lstStyle/>
          <a:p>
            <a:pPr algn="l"/>
            <a:r>
              <a:rPr sz="1800" b="1" i="0" dirty="0">
                <a:solidFill>
                  <a:srgbClr val="0D0D0D"/>
                </a:solidFill>
                <a:latin typeface="Calibri"/>
              </a:rPr>
              <a:t>Steve Jobs was one of the most influential innovators in history.
He co-founded Apple Inc., the company that later became the synonym for design and innovation.
He didn’t just build products, he built habits.
From the Macintosh to the iPhone, every innovation under his leadership has touched our life directly.
He believed in simplicity.
He said, “Simplicity is the ultimate sophistication.”
He pursued beauty in technology and perfection in design.
His vision combined art with engineering — where function and feel blend together.</a:t>
            </a:r>
          </a:p>
        </p:txBody>
      </p:sp>
      <p:pic>
        <p:nvPicPr>
          <p:cNvPr id="2054" name="Picture 6" descr="Mawlana Bhashani Science and Technology University - MBSTU">
            <a:extLst>
              <a:ext uri="{FF2B5EF4-FFF2-40B4-BE49-F238E27FC236}">
                <a16:creationId xmlns:a16="http://schemas.microsoft.com/office/drawing/2014/main" id="{18D1B268-F94B-2B93-ECAB-1940298228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90760" y="4800600"/>
            <a:ext cx="1905000" cy="1828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0DC"/>
        </a:solidFill>
        <a:effectLst/>
      </p:bgPr>
    </p:bg>
    <p:spTree>
      <p:nvGrpSpPr>
        <p:cNvPr id="1" name=""/>
        <p:cNvGrpSpPr/>
        <p:nvPr/>
      </p:nvGrpSpPr>
      <p:grpSpPr>
        <a:xfrm>
          <a:off x="0" y="0"/>
          <a:ext cx="0" cy="0"/>
          <a:chOff x="0" y="0"/>
          <a:chExt cx="0" cy="0"/>
        </a:xfrm>
      </p:grpSpPr>
      <p:sp>
        <p:nvSpPr>
          <p:cNvPr id="2" name="Rectangle 1"/>
          <p:cNvSpPr/>
          <p:nvPr/>
        </p:nvSpPr>
        <p:spPr>
          <a:xfrm>
            <a:off x="5257800" y="109728"/>
            <a:ext cx="1005840" cy="777240"/>
          </a:xfrm>
          <a:prstGeom prst="rect">
            <a:avLst/>
          </a:prstGeom>
          <a:solidFill>
            <a:srgbClr val="E8E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532120" y="246888"/>
            <a:ext cx="457200" cy="502920"/>
          </a:xfrm>
          <a:prstGeom prst="rect">
            <a:avLst/>
          </a:prstGeom>
          <a:solidFill>
            <a:srgbClr val="8B1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724144" y="-45720"/>
            <a:ext cx="73152" cy="182880"/>
          </a:xfrm>
          <a:prstGeom prst="rect">
            <a:avLst/>
          </a:prstGeom>
          <a:solidFill>
            <a:srgbClr val="C8A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754879" y="868680"/>
            <a:ext cx="2011680" cy="274320"/>
          </a:xfrm>
          <a:prstGeom prst="rect">
            <a:avLst/>
          </a:prstGeom>
          <a:noFill/>
        </p:spPr>
        <p:txBody>
          <a:bodyPr wrap="square">
            <a:spAutoFit/>
          </a:bodyPr>
          <a:lstStyle/>
          <a:p>
            <a:pPr algn="ctr"/>
            <a:r>
              <a:rPr sz="800" b="0" i="0">
                <a:solidFill>
                  <a:srgbClr val="555555"/>
                </a:solidFill>
                <a:latin typeface="Calibri"/>
              </a:rPr>
              <a:t>MBSTU</a:t>
            </a:r>
          </a:p>
        </p:txBody>
      </p:sp>
      <p:sp>
        <p:nvSpPr>
          <p:cNvPr id="6" name="Rectangle 5"/>
          <p:cNvSpPr/>
          <p:nvPr/>
        </p:nvSpPr>
        <p:spPr>
          <a:xfrm>
            <a:off x="0" y="0"/>
            <a:ext cx="12188952" cy="105156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82880"/>
            <a:ext cx="11430000" cy="731520"/>
          </a:xfrm>
          <a:prstGeom prst="rect">
            <a:avLst/>
          </a:prstGeom>
          <a:noFill/>
        </p:spPr>
        <p:txBody>
          <a:bodyPr wrap="square">
            <a:spAutoFit/>
          </a:bodyPr>
          <a:lstStyle/>
          <a:p>
            <a:pPr algn="l"/>
            <a:r>
              <a:rPr sz="3000" b="1" i="0">
                <a:solidFill>
                  <a:srgbClr val="0D0D0D"/>
                </a:solidFill>
                <a:latin typeface="Calibri"/>
              </a:rPr>
              <a:t>Early Life</a:t>
            </a:r>
          </a:p>
        </p:txBody>
      </p:sp>
      <p:sp>
        <p:nvSpPr>
          <p:cNvPr id="8" name="Rectangle 7"/>
          <p:cNvSpPr/>
          <p:nvPr/>
        </p:nvSpPr>
        <p:spPr>
          <a:xfrm>
            <a:off x="0" y="1051560"/>
            <a:ext cx="12188952" cy="54864"/>
          </a:xfrm>
          <a:prstGeom prst="rect">
            <a:avLst/>
          </a:prstGeom>
          <a:solidFill>
            <a:srgbClr val="4A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1234440"/>
            <a:ext cx="11430000" cy="411480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1399032"/>
            <a:ext cx="11109960" cy="1923604"/>
          </a:xfrm>
          <a:prstGeom prst="rect">
            <a:avLst/>
          </a:prstGeom>
          <a:noFill/>
        </p:spPr>
        <p:txBody>
          <a:bodyPr wrap="square">
            <a:spAutoFit/>
          </a:bodyPr>
          <a:lstStyle/>
          <a:p>
            <a:r>
              <a:rPr sz="1800" b="1" dirty="0">
                <a:solidFill>
                  <a:srgbClr val="0D0D0D"/>
                </a:solidFill>
                <a:latin typeface="Calibri"/>
              </a:rPr>
              <a:t>•  Born on February 24, 1955, in San Francisco, CA. His biological parents gave him up for adoption shortly after birth.</a:t>
            </a:r>
            <a:endParaRPr lang="en-US" sz="1800" b="1" dirty="0">
              <a:solidFill>
                <a:srgbClr val="0D0D0D"/>
              </a:solidFill>
              <a:latin typeface="Calibri"/>
            </a:endParaRPr>
          </a:p>
          <a:p>
            <a:endParaRPr sz="1800" b="1" dirty="0">
              <a:solidFill>
                <a:srgbClr val="0D0D0D"/>
              </a:solidFill>
              <a:latin typeface="Calibri"/>
            </a:endParaRPr>
          </a:p>
          <a:p>
            <a:r>
              <a:rPr sz="1800" b="1" dirty="0">
                <a:solidFill>
                  <a:srgbClr val="0D0D0D"/>
                </a:solidFill>
                <a:latin typeface="Calibri"/>
              </a:rPr>
              <a:t>•  Adopted by Paul and Clara Jobs of Mountain View, CA. Paul introduced Steve to mechanics and electronics from a young age.</a:t>
            </a:r>
            <a:endParaRPr lang="en-US" sz="1800" b="1" dirty="0">
              <a:solidFill>
                <a:srgbClr val="0D0D0D"/>
              </a:solidFill>
              <a:latin typeface="Calibri"/>
            </a:endParaRPr>
          </a:p>
          <a:p>
            <a:endParaRPr sz="1800" b="1" dirty="0">
              <a:solidFill>
                <a:srgbClr val="0D0D0D"/>
              </a:solidFill>
              <a:latin typeface="Calibri"/>
            </a:endParaRPr>
          </a:p>
          <a:p>
            <a:r>
              <a:rPr sz="1800" b="1" dirty="0">
                <a:solidFill>
                  <a:srgbClr val="0D0D0D"/>
                </a:solidFill>
                <a:latin typeface="Calibri"/>
              </a:rPr>
              <a:t>•  Grew up in Silicon Valley during the 1960s–70s, surrounded by engineers and tech enthusiasts, shaping his curiosity and ambition.</a:t>
            </a:r>
            <a:endParaRPr lang="en-US" sz="1800" b="1" dirty="0">
              <a:solidFill>
                <a:srgbClr val="0D0D0D"/>
              </a:solidFill>
              <a:latin typeface="Calibri"/>
            </a:endParaRPr>
          </a:p>
          <a:p>
            <a:endParaRPr sz="1800" b="1" dirty="0">
              <a:solidFill>
                <a:srgbClr val="0D0D0D"/>
              </a:solidFill>
              <a:latin typeface="Calibri"/>
            </a:endParaRPr>
          </a:p>
          <a:p>
            <a:r>
              <a:rPr sz="1800" b="1" dirty="0">
                <a:solidFill>
                  <a:srgbClr val="0D0D0D"/>
                </a:solidFill>
                <a:latin typeface="Calibri"/>
              </a:rPr>
              <a:t>•  Showed exceptional interest in electronics from childhood. At age 13, he called HP co-founder Bill Hewlett for spare parts and earned a summer job.</a:t>
            </a:r>
          </a:p>
        </p:txBody>
      </p:sp>
      <p:pic>
        <p:nvPicPr>
          <p:cNvPr id="1032" name="Picture 8" descr="Mawlana Bhashani Science and Technology University - MBSTU">
            <a:extLst>
              <a:ext uri="{FF2B5EF4-FFF2-40B4-BE49-F238E27FC236}">
                <a16:creationId xmlns:a16="http://schemas.microsoft.com/office/drawing/2014/main" id="{FACAB006-A7C4-EEB3-D3C5-D77675DB5C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90760" y="5349240"/>
            <a:ext cx="1905000" cy="15087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0DC"/>
        </a:solidFill>
        <a:effectLst/>
      </p:bgPr>
    </p:bg>
    <p:spTree>
      <p:nvGrpSpPr>
        <p:cNvPr id="1" name=""/>
        <p:cNvGrpSpPr/>
        <p:nvPr/>
      </p:nvGrpSpPr>
      <p:grpSpPr>
        <a:xfrm>
          <a:off x="0" y="0"/>
          <a:ext cx="0" cy="0"/>
          <a:chOff x="0" y="0"/>
          <a:chExt cx="0" cy="0"/>
        </a:xfrm>
      </p:grpSpPr>
      <p:sp>
        <p:nvSpPr>
          <p:cNvPr id="2" name="Rectangle 1"/>
          <p:cNvSpPr/>
          <p:nvPr/>
        </p:nvSpPr>
        <p:spPr>
          <a:xfrm>
            <a:off x="5257800" y="109728"/>
            <a:ext cx="1005840" cy="777240"/>
          </a:xfrm>
          <a:prstGeom prst="rect">
            <a:avLst/>
          </a:prstGeom>
          <a:solidFill>
            <a:srgbClr val="E8E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532120" y="246888"/>
            <a:ext cx="457200" cy="502920"/>
          </a:xfrm>
          <a:prstGeom prst="rect">
            <a:avLst/>
          </a:prstGeom>
          <a:solidFill>
            <a:srgbClr val="8B1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724144" y="-45720"/>
            <a:ext cx="73152" cy="182880"/>
          </a:xfrm>
          <a:prstGeom prst="rect">
            <a:avLst/>
          </a:prstGeom>
          <a:solidFill>
            <a:srgbClr val="C8A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754879" y="868680"/>
            <a:ext cx="2011680" cy="274320"/>
          </a:xfrm>
          <a:prstGeom prst="rect">
            <a:avLst/>
          </a:prstGeom>
          <a:noFill/>
        </p:spPr>
        <p:txBody>
          <a:bodyPr wrap="square">
            <a:spAutoFit/>
          </a:bodyPr>
          <a:lstStyle/>
          <a:p>
            <a:pPr algn="ctr"/>
            <a:r>
              <a:rPr sz="800" b="0" i="0">
                <a:solidFill>
                  <a:srgbClr val="555555"/>
                </a:solidFill>
                <a:latin typeface="Calibri"/>
              </a:rPr>
              <a:t>MBSTU</a:t>
            </a:r>
          </a:p>
        </p:txBody>
      </p:sp>
      <p:sp>
        <p:nvSpPr>
          <p:cNvPr id="6" name="Rectangle 5"/>
          <p:cNvSpPr/>
          <p:nvPr/>
        </p:nvSpPr>
        <p:spPr>
          <a:xfrm>
            <a:off x="0" y="0"/>
            <a:ext cx="12188952" cy="105156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82880"/>
            <a:ext cx="11430000" cy="731520"/>
          </a:xfrm>
          <a:prstGeom prst="rect">
            <a:avLst/>
          </a:prstGeom>
          <a:noFill/>
        </p:spPr>
        <p:txBody>
          <a:bodyPr wrap="square">
            <a:spAutoFit/>
          </a:bodyPr>
          <a:lstStyle/>
          <a:p>
            <a:pPr algn="l"/>
            <a:r>
              <a:rPr sz="3000" b="1" i="0">
                <a:solidFill>
                  <a:srgbClr val="0D0D0D"/>
                </a:solidFill>
                <a:latin typeface="Calibri"/>
              </a:rPr>
              <a:t>Education</a:t>
            </a:r>
          </a:p>
        </p:txBody>
      </p:sp>
      <p:sp>
        <p:nvSpPr>
          <p:cNvPr id="8" name="Rectangle 7"/>
          <p:cNvSpPr/>
          <p:nvPr/>
        </p:nvSpPr>
        <p:spPr>
          <a:xfrm>
            <a:off x="0" y="1051560"/>
            <a:ext cx="12188952" cy="54864"/>
          </a:xfrm>
          <a:prstGeom prst="rect">
            <a:avLst/>
          </a:prstGeom>
          <a:solidFill>
            <a:srgbClr val="4A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1234440"/>
            <a:ext cx="11430000" cy="365760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1399032"/>
            <a:ext cx="11109960" cy="1400383"/>
          </a:xfrm>
          <a:prstGeom prst="rect">
            <a:avLst/>
          </a:prstGeom>
          <a:noFill/>
        </p:spPr>
        <p:txBody>
          <a:bodyPr wrap="square">
            <a:spAutoFit/>
          </a:bodyPr>
          <a:lstStyle/>
          <a:p>
            <a:r>
              <a:rPr sz="1800" b="1" dirty="0">
                <a:solidFill>
                  <a:srgbClr val="0D0D0D"/>
                </a:solidFill>
                <a:latin typeface="Calibri"/>
              </a:rPr>
              <a:t>•  In 1972, Jobs enrolled at Reed College but dropped out after six months. He felt guilty about the cost, yet continued auditing courses that interested him.</a:t>
            </a:r>
            <a:endParaRPr lang="en-US" sz="1800" b="1" dirty="0">
              <a:solidFill>
                <a:srgbClr val="0D0D0D"/>
              </a:solidFill>
              <a:latin typeface="Calibri"/>
            </a:endParaRPr>
          </a:p>
          <a:p>
            <a:endParaRPr sz="1800" b="1" dirty="0">
              <a:solidFill>
                <a:srgbClr val="0D0D0D"/>
              </a:solidFill>
              <a:latin typeface="Calibri"/>
            </a:endParaRPr>
          </a:p>
          <a:p>
            <a:r>
              <a:rPr sz="1800" b="1" dirty="0">
                <a:solidFill>
                  <a:srgbClr val="0D0D0D"/>
                </a:solidFill>
                <a:latin typeface="Calibri"/>
              </a:rPr>
              <a:t>•  He audited a calligraphy class that seemed impractical at the time. A decade later, it inspired the Macintosh’s beautiful typography — the first of its kind in personal computing.</a:t>
            </a:r>
            <a:endParaRPr lang="en-US" sz="1800" b="1" dirty="0">
              <a:solidFill>
                <a:srgbClr val="0D0D0D"/>
              </a:solidFill>
              <a:latin typeface="Calibri"/>
            </a:endParaRPr>
          </a:p>
          <a:p>
            <a:endParaRPr sz="1800" b="1" dirty="0">
              <a:solidFill>
                <a:srgbClr val="0D0D0D"/>
              </a:solidFill>
              <a:latin typeface="Calibri"/>
            </a:endParaRPr>
          </a:p>
          <a:p>
            <a:r>
              <a:rPr sz="1800" b="1" dirty="0">
                <a:solidFill>
                  <a:srgbClr val="0D0D0D"/>
                </a:solidFill>
                <a:latin typeface="Calibri"/>
              </a:rPr>
              <a:t>•  Jobs believed in learning by doing and following curiosity. His unconventional background let him blend art, design, and technology in ways traditional engineers could not.</a:t>
            </a:r>
          </a:p>
        </p:txBody>
      </p:sp>
      <p:pic>
        <p:nvPicPr>
          <p:cNvPr id="3074" name="Picture 2" descr="Academics – Mawlana Bhashani Science and Technology ...">
            <a:extLst>
              <a:ext uri="{FF2B5EF4-FFF2-40B4-BE49-F238E27FC236}">
                <a16:creationId xmlns:a16="http://schemas.microsoft.com/office/drawing/2014/main" id="{5BE13B77-AAF6-C6B3-2326-2A8EC60447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95510" y="4811077"/>
            <a:ext cx="2000250" cy="19907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0DC"/>
        </a:solidFill>
        <a:effectLst/>
      </p:bgPr>
    </p:bg>
    <p:spTree>
      <p:nvGrpSpPr>
        <p:cNvPr id="1" name=""/>
        <p:cNvGrpSpPr/>
        <p:nvPr/>
      </p:nvGrpSpPr>
      <p:grpSpPr>
        <a:xfrm>
          <a:off x="0" y="0"/>
          <a:ext cx="0" cy="0"/>
          <a:chOff x="0" y="0"/>
          <a:chExt cx="0" cy="0"/>
        </a:xfrm>
      </p:grpSpPr>
      <p:sp>
        <p:nvSpPr>
          <p:cNvPr id="2" name="Rectangle 1"/>
          <p:cNvSpPr/>
          <p:nvPr/>
        </p:nvSpPr>
        <p:spPr>
          <a:xfrm>
            <a:off x="5257800" y="109728"/>
            <a:ext cx="1005840" cy="777240"/>
          </a:xfrm>
          <a:prstGeom prst="rect">
            <a:avLst/>
          </a:prstGeom>
          <a:solidFill>
            <a:srgbClr val="E8E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532120" y="246888"/>
            <a:ext cx="457200" cy="502920"/>
          </a:xfrm>
          <a:prstGeom prst="rect">
            <a:avLst/>
          </a:prstGeom>
          <a:solidFill>
            <a:srgbClr val="8B1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724144" y="-45720"/>
            <a:ext cx="73152" cy="182880"/>
          </a:xfrm>
          <a:prstGeom prst="rect">
            <a:avLst/>
          </a:prstGeom>
          <a:solidFill>
            <a:srgbClr val="C8A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754879" y="868680"/>
            <a:ext cx="2011680" cy="274320"/>
          </a:xfrm>
          <a:prstGeom prst="rect">
            <a:avLst/>
          </a:prstGeom>
          <a:noFill/>
        </p:spPr>
        <p:txBody>
          <a:bodyPr wrap="square">
            <a:spAutoFit/>
          </a:bodyPr>
          <a:lstStyle/>
          <a:p>
            <a:pPr algn="ctr"/>
            <a:r>
              <a:rPr sz="800" b="0" i="0">
                <a:solidFill>
                  <a:srgbClr val="555555"/>
                </a:solidFill>
                <a:latin typeface="Calibri"/>
              </a:rPr>
              <a:t>MBSTU</a:t>
            </a:r>
          </a:p>
        </p:txBody>
      </p:sp>
      <p:sp>
        <p:nvSpPr>
          <p:cNvPr id="6" name="Rectangle 5"/>
          <p:cNvSpPr/>
          <p:nvPr/>
        </p:nvSpPr>
        <p:spPr>
          <a:xfrm>
            <a:off x="0" y="0"/>
            <a:ext cx="12188952" cy="105156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82880"/>
            <a:ext cx="11430000" cy="731520"/>
          </a:xfrm>
          <a:prstGeom prst="rect">
            <a:avLst/>
          </a:prstGeom>
          <a:noFill/>
        </p:spPr>
        <p:txBody>
          <a:bodyPr wrap="square">
            <a:spAutoFit/>
          </a:bodyPr>
          <a:lstStyle/>
          <a:p>
            <a:pPr algn="l"/>
            <a:r>
              <a:rPr sz="3000" b="1" i="0">
                <a:solidFill>
                  <a:srgbClr val="0D0D0D"/>
                </a:solidFill>
                <a:latin typeface="Calibri"/>
              </a:rPr>
              <a:t>Founding Apple</a:t>
            </a:r>
          </a:p>
        </p:txBody>
      </p:sp>
      <p:sp>
        <p:nvSpPr>
          <p:cNvPr id="8" name="Rectangle 7"/>
          <p:cNvSpPr/>
          <p:nvPr/>
        </p:nvSpPr>
        <p:spPr>
          <a:xfrm>
            <a:off x="0" y="1051560"/>
            <a:ext cx="12188952" cy="54864"/>
          </a:xfrm>
          <a:prstGeom prst="rect">
            <a:avLst/>
          </a:prstGeom>
          <a:solidFill>
            <a:srgbClr val="4A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1234440"/>
            <a:ext cx="11430000" cy="411480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2316" y="1399032"/>
            <a:ext cx="11109960" cy="1923604"/>
          </a:xfrm>
          <a:prstGeom prst="rect">
            <a:avLst/>
          </a:prstGeom>
          <a:noFill/>
        </p:spPr>
        <p:txBody>
          <a:bodyPr wrap="square">
            <a:spAutoFit/>
          </a:bodyPr>
          <a:lstStyle/>
          <a:p>
            <a:r>
              <a:rPr sz="1800" b="1" dirty="0">
                <a:solidFill>
                  <a:srgbClr val="0D0D0D"/>
                </a:solidFill>
                <a:latin typeface="Calibri"/>
              </a:rPr>
              <a:t>•  On April 1, 1976, Jobs, Wozniak, and Wayne co-founded Apple. Wozniak built the hardware; Jobs saw the commercial potential. Wayne sold his share for $800 just 12 days later.</a:t>
            </a:r>
            <a:endParaRPr lang="en-US" sz="1800" b="1" dirty="0">
              <a:solidFill>
                <a:srgbClr val="0D0D0D"/>
              </a:solidFill>
              <a:latin typeface="Calibri"/>
            </a:endParaRPr>
          </a:p>
          <a:p>
            <a:endParaRPr sz="1800" b="1" dirty="0">
              <a:solidFill>
                <a:srgbClr val="0D0D0D"/>
              </a:solidFill>
              <a:latin typeface="Calibri"/>
            </a:endParaRPr>
          </a:p>
          <a:p>
            <a:r>
              <a:rPr sz="1800" b="1" dirty="0">
                <a:solidFill>
                  <a:srgbClr val="0D0D0D"/>
                </a:solidFill>
                <a:latin typeface="Calibri"/>
              </a:rPr>
              <a:t>•  Apple started in the Jobs family garage in Los Altos, CA, where Jobs and Wozniak hand-assembled circuit boards with almost no money.</a:t>
            </a:r>
            <a:endParaRPr lang="en-US" sz="1800" b="1" dirty="0">
              <a:solidFill>
                <a:srgbClr val="0D0D0D"/>
              </a:solidFill>
              <a:latin typeface="Calibri"/>
            </a:endParaRPr>
          </a:p>
          <a:p>
            <a:endParaRPr sz="1800" b="1" dirty="0">
              <a:solidFill>
                <a:srgbClr val="0D0D0D"/>
              </a:solidFill>
              <a:latin typeface="Calibri"/>
            </a:endParaRPr>
          </a:p>
          <a:p>
            <a:r>
              <a:rPr sz="1800" b="1" dirty="0">
                <a:solidFill>
                  <a:srgbClr val="0D0D0D"/>
                </a:solidFill>
                <a:latin typeface="Calibri"/>
              </a:rPr>
              <a:t>•  The Apple I (1976), priced at $666.66, was Apple’s first product — a fully assembled single-board computer. About 200 units were sold; originals now fetch over $400,000 at auction.</a:t>
            </a:r>
            <a:endParaRPr lang="en-US" sz="1800" b="1" dirty="0">
              <a:solidFill>
                <a:srgbClr val="0D0D0D"/>
              </a:solidFill>
              <a:latin typeface="Calibri"/>
            </a:endParaRPr>
          </a:p>
          <a:p>
            <a:endParaRPr sz="1800" b="1" dirty="0">
              <a:solidFill>
                <a:srgbClr val="0D0D0D"/>
              </a:solidFill>
              <a:latin typeface="Calibri"/>
            </a:endParaRPr>
          </a:p>
          <a:p>
            <a:r>
              <a:rPr sz="1800" b="1" dirty="0">
                <a:solidFill>
                  <a:srgbClr val="0D0D0D"/>
                </a:solidFill>
                <a:latin typeface="Calibri"/>
              </a:rPr>
              <a:t>•  The Apple II (1977) was a breakthrough: color graphics, built-in keyboard, and expandable slots. It became widely used in homes and schools, cementing Apple as a PC pioneer.</a:t>
            </a:r>
          </a:p>
        </p:txBody>
      </p:sp>
      <p:pic>
        <p:nvPicPr>
          <p:cNvPr id="4098" name="Picture 2" descr="Academics – Mawlana Bhashani Science and Technology ...">
            <a:extLst>
              <a:ext uri="{FF2B5EF4-FFF2-40B4-BE49-F238E27FC236}">
                <a16:creationId xmlns:a16="http://schemas.microsoft.com/office/drawing/2014/main" id="{22A8CFBF-6245-5BBC-8D7C-9026793FDF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61754" y="5172849"/>
            <a:ext cx="1755622" cy="170414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0DC"/>
        </a:solidFill>
        <a:effectLst/>
      </p:bgPr>
    </p:bg>
    <p:spTree>
      <p:nvGrpSpPr>
        <p:cNvPr id="1" name=""/>
        <p:cNvGrpSpPr/>
        <p:nvPr/>
      </p:nvGrpSpPr>
      <p:grpSpPr>
        <a:xfrm>
          <a:off x="0" y="0"/>
          <a:ext cx="0" cy="0"/>
          <a:chOff x="0" y="0"/>
          <a:chExt cx="0" cy="0"/>
        </a:xfrm>
      </p:grpSpPr>
      <p:sp>
        <p:nvSpPr>
          <p:cNvPr id="2" name="Rectangle 1"/>
          <p:cNvSpPr/>
          <p:nvPr/>
        </p:nvSpPr>
        <p:spPr>
          <a:xfrm>
            <a:off x="5257800" y="109728"/>
            <a:ext cx="1005840" cy="777240"/>
          </a:xfrm>
          <a:prstGeom prst="rect">
            <a:avLst/>
          </a:prstGeom>
          <a:solidFill>
            <a:srgbClr val="E8E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532120" y="246888"/>
            <a:ext cx="457200" cy="502920"/>
          </a:xfrm>
          <a:prstGeom prst="rect">
            <a:avLst/>
          </a:prstGeom>
          <a:solidFill>
            <a:srgbClr val="8B1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724144" y="-45720"/>
            <a:ext cx="73152" cy="182880"/>
          </a:xfrm>
          <a:prstGeom prst="rect">
            <a:avLst/>
          </a:prstGeom>
          <a:solidFill>
            <a:srgbClr val="C8A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754879" y="868680"/>
            <a:ext cx="2011680" cy="274320"/>
          </a:xfrm>
          <a:prstGeom prst="rect">
            <a:avLst/>
          </a:prstGeom>
          <a:noFill/>
        </p:spPr>
        <p:txBody>
          <a:bodyPr wrap="square">
            <a:spAutoFit/>
          </a:bodyPr>
          <a:lstStyle/>
          <a:p>
            <a:pPr algn="ctr"/>
            <a:r>
              <a:rPr sz="800" b="0" i="0">
                <a:solidFill>
                  <a:srgbClr val="555555"/>
                </a:solidFill>
                <a:latin typeface="Calibri"/>
              </a:rPr>
              <a:t>MBSTU</a:t>
            </a:r>
          </a:p>
        </p:txBody>
      </p:sp>
      <p:sp>
        <p:nvSpPr>
          <p:cNvPr id="6" name="Rectangle 5"/>
          <p:cNvSpPr/>
          <p:nvPr/>
        </p:nvSpPr>
        <p:spPr>
          <a:xfrm>
            <a:off x="0" y="0"/>
            <a:ext cx="12188952" cy="105156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82880"/>
            <a:ext cx="11430000" cy="731520"/>
          </a:xfrm>
          <a:prstGeom prst="rect">
            <a:avLst/>
          </a:prstGeom>
          <a:noFill/>
        </p:spPr>
        <p:txBody>
          <a:bodyPr wrap="square">
            <a:spAutoFit/>
          </a:bodyPr>
          <a:lstStyle/>
          <a:p>
            <a:pPr algn="l"/>
            <a:r>
              <a:rPr sz="3000" b="1" i="0">
                <a:solidFill>
                  <a:srgbClr val="0D0D0D"/>
                </a:solidFill>
                <a:latin typeface="Calibri"/>
              </a:rPr>
              <a:t>NeXT &amp; Pixar</a:t>
            </a:r>
          </a:p>
        </p:txBody>
      </p:sp>
      <p:sp>
        <p:nvSpPr>
          <p:cNvPr id="8" name="Rectangle 7"/>
          <p:cNvSpPr/>
          <p:nvPr/>
        </p:nvSpPr>
        <p:spPr>
          <a:xfrm>
            <a:off x="0" y="1051560"/>
            <a:ext cx="12188952" cy="54864"/>
          </a:xfrm>
          <a:prstGeom prst="rect">
            <a:avLst/>
          </a:prstGeom>
          <a:solidFill>
            <a:srgbClr val="4A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1234440"/>
            <a:ext cx="5486400" cy="411480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1399032"/>
            <a:ext cx="5166360" cy="1400383"/>
          </a:xfrm>
          <a:prstGeom prst="rect">
            <a:avLst/>
          </a:prstGeom>
          <a:noFill/>
        </p:spPr>
        <p:txBody>
          <a:bodyPr wrap="square">
            <a:spAutoFit/>
          </a:bodyPr>
          <a:lstStyle/>
          <a:p>
            <a:r>
              <a:rPr sz="1800" b="1" dirty="0">
                <a:solidFill>
                  <a:srgbClr val="0D0D0D"/>
                </a:solidFill>
                <a:latin typeface="Calibri"/>
              </a:rPr>
              <a:t>•  In 1985, Jobs was forced out of Apple after a power struggle with CEO John Sculley. He later called it one of the best things that happened to him.</a:t>
            </a:r>
            <a:endParaRPr lang="en-US" sz="1800" b="1" dirty="0">
              <a:solidFill>
                <a:srgbClr val="0D0D0D"/>
              </a:solidFill>
              <a:latin typeface="Calibri"/>
            </a:endParaRPr>
          </a:p>
          <a:p>
            <a:endParaRPr sz="1800" b="1" dirty="0">
              <a:solidFill>
                <a:srgbClr val="0D0D0D"/>
              </a:solidFill>
              <a:latin typeface="Calibri"/>
            </a:endParaRPr>
          </a:p>
          <a:p>
            <a:r>
              <a:rPr sz="1800" b="1" dirty="0">
                <a:solidFill>
                  <a:srgbClr val="0D0D0D"/>
                </a:solidFill>
                <a:latin typeface="Calibri"/>
              </a:rPr>
              <a:t>•  Jobs founded NeXT Inc. in 1985, producing advanced workstations with the NeXTSTEP OS. Though never mainstream, the software was revolutionary.</a:t>
            </a:r>
            <a:endParaRPr lang="en-US" sz="1800" b="1" dirty="0">
              <a:solidFill>
                <a:srgbClr val="0D0D0D"/>
              </a:solidFill>
              <a:latin typeface="Calibri"/>
            </a:endParaRPr>
          </a:p>
          <a:p>
            <a:endParaRPr sz="1800" b="1" dirty="0">
              <a:solidFill>
                <a:srgbClr val="0D0D0D"/>
              </a:solidFill>
              <a:latin typeface="Calibri"/>
            </a:endParaRPr>
          </a:p>
          <a:p>
            <a:r>
              <a:rPr sz="1800" b="1" dirty="0">
                <a:solidFill>
                  <a:srgbClr val="0D0D0D"/>
                </a:solidFill>
                <a:latin typeface="Calibri"/>
              </a:rPr>
              <a:t>•  Apple acquired NeXT in 1997 for ~$429 million. NeXTSTEP became the foundation of macOS, and the deal brought Jobs back to Apple.</a:t>
            </a:r>
          </a:p>
        </p:txBody>
      </p:sp>
      <p:sp>
        <p:nvSpPr>
          <p:cNvPr id="11" name="Rectangle 10"/>
          <p:cNvSpPr/>
          <p:nvPr/>
        </p:nvSpPr>
        <p:spPr>
          <a:xfrm>
            <a:off x="6263640" y="1234440"/>
            <a:ext cx="5532120" cy="411480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46520" y="1399032"/>
            <a:ext cx="5212080" cy="1923604"/>
          </a:xfrm>
          <a:prstGeom prst="rect">
            <a:avLst/>
          </a:prstGeom>
          <a:noFill/>
        </p:spPr>
        <p:txBody>
          <a:bodyPr wrap="square">
            <a:spAutoFit/>
          </a:bodyPr>
          <a:lstStyle/>
          <a:p>
            <a:r>
              <a:rPr sz="1800" b="1" dirty="0">
                <a:solidFill>
                  <a:srgbClr val="0D0D0D"/>
                </a:solidFill>
                <a:latin typeface="Calibri"/>
              </a:rPr>
              <a:t>•  In 1986, Jobs bought the Graphics Group from Lucasfilm for $5 million and renamed it Pixar Animation Studios, betting on its future in computer animation.</a:t>
            </a:r>
            <a:endParaRPr lang="en-US" sz="1800" b="1" dirty="0">
              <a:solidFill>
                <a:srgbClr val="0D0D0D"/>
              </a:solidFill>
              <a:latin typeface="Calibri"/>
            </a:endParaRPr>
          </a:p>
          <a:p>
            <a:endParaRPr sz="1800" b="1" dirty="0">
              <a:solidFill>
                <a:srgbClr val="0D0D0D"/>
              </a:solidFill>
              <a:latin typeface="Calibri"/>
            </a:endParaRPr>
          </a:p>
          <a:p>
            <a:r>
              <a:rPr sz="1800" b="1" dirty="0">
                <a:solidFill>
                  <a:srgbClr val="0D0D0D"/>
                </a:solidFill>
                <a:latin typeface="Calibri"/>
              </a:rPr>
              <a:t>•  Pixar partnered with Disney to produce Toy Story (1995) — the world’s first fully computer-animated feature film, earning $373 million on a $30 million budget.</a:t>
            </a:r>
            <a:endParaRPr lang="en-US" sz="1800" b="1" dirty="0">
              <a:solidFill>
                <a:srgbClr val="0D0D0D"/>
              </a:solidFill>
              <a:latin typeface="Calibri"/>
            </a:endParaRPr>
          </a:p>
          <a:p>
            <a:endParaRPr sz="1800" b="1" dirty="0">
              <a:solidFill>
                <a:srgbClr val="0D0D0D"/>
              </a:solidFill>
              <a:latin typeface="Calibri"/>
            </a:endParaRPr>
          </a:p>
          <a:p>
            <a:r>
              <a:rPr sz="1800" b="1" dirty="0">
                <a:solidFill>
                  <a:srgbClr val="0D0D0D"/>
                </a:solidFill>
                <a:latin typeface="Calibri"/>
              </a:rPr>
              <a:t>•  Toy Story launched a new era in animation. Pixar followed with acclaimed films like Finding Nemo, Monsters Inc., and WALL-E.</a:t>
            </a:r>
            <a:endParaRPr lang="en-US" sz="1800" b="1" dirty="0">
              <a:solidFill>
                <a:srgbClr val="0D0D0D"/>
              </a:solidFill>
              <a:latin typeface="Calibri"/>
            </a:endParaRPr>
          </a:p>
          <a:p>
            <a:endParaRPr sz="1800" b="1" dirty="0">
              <a:solidFill>
                <a:srgbClr val="0D0D0D"/>
              </a:solidFill>
              <a:latin typeface="Calibri"/>
            </a:endParaRPr>
          </a:p>
          <a:p>
            <a:r>
              <a:rPr sz="1800" b="1" dirty="0">
                <a:solidFill>
                  <a:srgbClr val="0D0D0D"/>
                </a:solidFill>
                <a:latin typeface="Calibri"/>
              </a:rPr>
              <a:t>•  Disney acquired Pixar in 2006 for ~$7.4 billion. Jobs became Disney’s largest individual shareholder with about 7% of the stock.</a:t>
            </a:r>
          </a:p>
        </p:txBody>
      </p:sp>
      <p:pic>
        <p:nvPicPr>
          <p:cNvPr id="5122" name="Picture 2" descr="Academics – Mawlana Bhashani Science and Technology ...">
            <a:extLst>
              <a:ext uri="{FF2B5EF4-FFF2-40B4-BE49-F238E27FC236}">
                <a16:creationId xmlns:a16="http://schemas.microsoft.com/office/drawing/2014/main" id="{4160EC85-B427-CCBC-C0D8-F43DB9F1BD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69909" y="5222502"/>
            <a:ext cx="1853155" cy="16354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0DC"/>
        </a:solidFill>
        <a:effectLst/>
      </p:bgPr>
    </p:bg>
    <p:spTree>
      <p:nvGrpSpPr>
        <p:cNvPr id="1" name=""/>
        <p:cNvGrpSpPr/>
        <p:nvPr/>
      </p:nvGrpSpPr>
      <p:grpSpPr>
        <a:xfrm>
          <a:off x="0" y="0"/>
          <a:ext cx="0" cy="0"/>
          <a:chOff x="0" y="0"/>
          <a:chExt cx="0" cy="0"/>
        </a:xfrm>
      </p:grpSpPr>
      <p:sp>
        <p:nvSpPr>
          <p:cNvPr id="2" name="Rectangle 1"/>
          <p:cNvSpPr/>
          <p:nvPr/>
        </p:nvSpPr>
        <p:spPr>
          <a:xfrm>
            <a:off x="5257800" y="109728"/>
            <a:ext cx="1005840" cy="777240"/>
          </a:xfrm>
          <a:prstGeom prst="rect">
            <a:avLst/>
          </a:prstGeom>
          <a:solidFill>
            <a:srgbClr val="E8E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532120" y="246888"/>
            <a:ext cx="457200" cy="502920"/>
          </a:xfrm>
          <a:prstGeom prst="rect">
            <a:avLst/>
          </a:prstGeom>
          <a:solidFill>
            <a:srgbClr val="8B1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724144" y="-45720"/>
            <a:ext cx="73152" cy="182880"/>
          </a:xfrm>
          <a:prstGeom prst="rect">
            <a:avLst/>
          </a:prstGeom>
          <a:solidFill>
            <a:srgbClr val="C8A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754879" y="868680"/>
            <a:ext cx="2011680" cy="274320"/>
          </a:xfrm>
          <a:prstGeom prst="rect">
            <a:avLst/>
          </a:prstGeom>
          <a:noFill/>
        </p:spPr>
        <p:txBody>
          <a:bodyPr wrap="square">
            <a:spAutoFit/>
          </a:bodyPr>
          <a:lstStyle/>
          <a:p>
            <a:pPr algn="ctr"/>
            <a:r>
              <a:rPr sz="800" b="0" i="0">
                <a:solidFill>
                  <a:srgbClr val="555555"/>
                </a:solidFill>
                <a:latin typeface="Calibri"/>
              </a:rPr>
              <a:t>MBSTU</a:t>
            </a:r>
          </a:p>
        </p:txBody>
      </p:sp>
      <p:sp>
        <p:nvSpPr>
          <p:cNvPr id="6" name="Rectangle 5"/>
          <p:cNvSpPr/>
          <p:nvPr/>
        </p:nvSpPr>
        <p:spPr>
          <a:xfrm>
            <a:off x="0" y="0"/>
            <a:ext cx="12188952" cy="105156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82880"/>
            <a:ext cx="11430000" cy="731520"/>
          </a:xfrm>
          <a:prstGeom prst="rect">
            <a:avLst/>
          </a:prstGeom>
          <a:noFill/>
        </p:spPr>
        <p:txBody>
          <a:bodyPr wrap="square">
            <a:spAutoFit/>
          </a:bodyPr>
          <a:lstStyle/>
          <a:p>
            <a:pPr algn="l"/>
            <a:r>
              <a:rPr sz="3000" b="1" i="0">
                <a:solidFill>
                  <a:srgbClr val="0D0D0D"/>
                </a:solidFill>
                <a:latin typeface="Calibri"/>
              </a:rPr>
              <a:t>Return to Apple</a:t>
            </a:r>
          </a:p>
        </p:txBody>
      </p:sp>
      <p:sp>
        <p:nvSpPr>
          <p:cNvPr id="8" name="Rectangle 7"/>
          <p:cNvSpPr/>
          <p:nvPr/>
        </p:nvSpPr>
        <p:spPr>
          <a:xfrm>
            <a:off x="0" y="1051560"/>
            <a:ext cx="12188952" cy="54864"/>
          </a:xfrm>
          <a:prstGeom prst="rect">
            <a:avLst/>
          </a:prstGeom>
          <a:solidFill>
            <a:srgbClr val="4A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1097280"/>
            <a:ext cx="11430000" cy="411480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1399032"/>
            <a:ext cx="11109960" cy="1923604"/>
          </a:xfrm>
          <a:prstGeom prst="rect">
            <a:avLst/>
          </a:prstGeom>
          <a:noFill/>
        </p:spPr>
        <p:txBody>
          <a:bodyPr wrap="square">
            <a:spAutoFit/>
          </a:bodyPr>
          <a:lstStyle/>
          <a:p>
            <a:r>
              <a:rPr sz="1800" b="1" dirty="0">
                <a:solidFill>
                  <a:srgbClr val="0D0D0D"/>
                </a:solidFill>
                <a:latin typeface="Calibri"/>
              </a:rPr>
              <a:t>•  In 1997, Jobs returned to Apple after the NeXT acquisition, first as advisor then interim CEO. He became permanent CEO in 2000 and served until August 2011.</a:t>
            </a:r>
            <a:endParaRPr lang="en-US" sz="1800" b="1" dirty="0">
              <a:solidFill>
                <a:srgbClr val="0D0D0D"/>
              </a:solidFill>
              <a:latin typeface="Calibri"/>
            </a:endParaRPr>
          </a:p>
          <a:p>
            <a:endParaRPr sz="1800" b="1" dirty="0">
              <a:solidFill>
                <a:srgbClr val="0D0D0D"/>
              </a:solidFill>
              <a:latin typeface="Calibri"/>
            </a:endParaRPr>
          </a:p>
          <a:p>
            <a:r>
              <a:rPr sz="1800" b="1" dirty="0">
                <a:solidFill>
                  <a:srgbClr val="0D0D0D"/>
                </a:solidFill>
                <a:latin typeface="Calibri"/>
              </a:rPr>
              <a:t>•  Apple was near bankruptcy when Jobs returned — $1 billion in losses, tiny market share, and low morale. Many predicted the company would shut down.</a:t>
            </a:r>
            <a:endParaRPr lang="en-US" sz="1800" b="1" dirty="0">
              <a:solidFill>
                <a:srgbClr val="0D0D0D"/>
              </a:solidFill>
              <a:latin typeface="Calibri"/>
            </a:endParaRPr>
          </a:p>
          <a:p>
            <a:endParaRPr sz="1800" b="1" dirty="0">
              <a:solidFill>
                <a:srgbClr val="0D0D0D"/>
              </a:solidFill>
              <a:latin typeface="Calibri"/>
            </a:endParaRPr>
          </a:p>
          <a:p>
            <a:r>
              <a:rPr sz="1800" b="1" dirty="0">
                <a:solidFill>
                  <a:srgbClr val="0D0D0D"/>
                </a:solidFill>
                <a:latin typeface="Calibri"/>
              </a:rPr>
              <a:t>•  Jobs cut Apple’s product line to four focused models, secured a $150M investment from Microsoft, rebuilt the design team under Jony Ive, and launched iconic products: iMac, iPod, iPhone, and iPad.</a:t>
            </a:r>
            <a:endParaRPr lang="en-US" sz="1800" b="1" dirty="0">
              <a:solidFill>
                <a:srgbClr val="0D0D0D"/>
              </a:solidFill>
              <a:latin typeface="Calibri"/>
            </a:endParaRPr>
          </a:p>
          <a:p>
            <a:endParaRPr sz="1800" b="1" dirty="0">
              <a:solidFill>
                <a:srgbClr val="0D0D0D"/>
              </a:solidFill>
              <a:latin typeface="Calibri"/>
            </a:endParaRPr>
          </a:p>
          <a:p>
            <a:r>
              <a:rPr sz="1800" b="1" dirty="0">
                <a:solidFill>
                  <a:srgbClr val="0D0D0D"/>
                </a:solidFill>
                <a:latin typeface="Calibri"/>
              </a:rPr>
              <a:t>•  Jobs launched the “Think Different” campaign (1997), celebrating creative rebels like Einstein and Gandhi. It rallied Apple employees and declared the company’s comeback.</a:t>
            </a:r>
          </a:p>
        </p:txBody>
      </p:sp>
      <p:pic>
        <p:nvPicPr>
          <p:cNvPr id="6146" name="Picture 2" descr="Academics – Mawlana Bhashani Science and Technology ...">
            <a:extLst>
              <a:ext uri="{FF2B5EF4-FFF2-40B4-BE49-F238E27FC236}">
                <a16:creationId xmlns:a16="http://schemas.microsoft.com/office/drawing/2014/main" id="{F7F1B66B-61EA-F085-3D98-129A43B92C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95510" y="5053781"/>
            <a:ext cx="2000250" cy="180421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0DC"/>
        </a:solidFill>
        <a:effectLst/>
      </p:bgPr>
    </p:bg>
    <p:spTree>
      <p:nvGrpSpPr>
        <p:cNvPr id="1" name=""/>
        <p:cNvGrpSpPr/>
        <p:nvPr/>
      </p:nvGrpSpPr>
      <p:grpSpPr>
        <a:xfrm>
          <a:off x="0" y="0"/>
          <a:ext cx="0" cy="0"/>
          <a:chOff x="0" y="0"/>
          <a:chExt cx="0" cy="0"/>
        </a:xfrm>
      </p:grpSpPr>
      <p:sp>
        <p:nvSpPr>
          <p:cNvPr id="2" name="Rectangle 1"/>
          <p:cNvSpPr/>
          <p:nvPr/>
        </p:nvSpPr>
        <p:spPr>
          <a:xfrm>
            <a:off x="5257800" y="109728"/>
            <a:ext cx="1005840" cy="777240"/>
          </a:xfrm>
          <a:prstGeom prst="rect">
            <a:avLst/>
          </a:prstGeom>
          <a:solidFill>
            <a:srgbClr val="E8E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532120" y="246888"/>
            <a:ext cx="457200" cy="502920"/>
          </a:xfrm>
          <a:prstGeom prst="rect">
            <a:avLst/>
          </a:prstGeom>
          <a:solidFill>
            <a:srgbClr val="8B1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724144" y="-45720"/>
            <a:ext cx="73152" cy="182880"/>
          </a:xfrm>
          <a:prstGeom prst="rect">
            <a:avLst/>
          </a:prstGeom>
          <a:solidFill>
            <a:srgbClr val="C8A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754879" y="868680"/>
            <a:ext cx="2011680" cy="274320"/>
          </a:xfrm>
          <a:prstGeom prst="rect">
            <a:avLst/>
          </a:prstGeom>
          <a:noFill/>
        </p:spPr>
        <p:txBody>
          <a:bodyPr wrap="square">
            <a:spAutoFit/>
          </a:bodyPr>
          <a:lstStyle/>
          <a:p>
            <a:pPr algn="ctr"/>
            <a:r>
              <a:rPr sz="800" b="0" i="0">
                <a:solidFill>
                  <a:srgbClr val="555555"/>
                </a:solidFill>
                <a:latin typeface="Calibri"/>
              </a:rPr>
              <a:t>MBSTU</a:t>
            </a:r>
          </a:p>
        </p:txBody>
      </p:sp>
      <p:sp>
        <p:nvSpPr>
          <p:cNvPr id="6" name="Rectangle 5"/>
          <p:cNvSpPr/>
          <p:nvPr/>
        </p:nvSpPr>
        <p:spPr>
          <a:xfrm>
            <a:off x="0" y="0"/>
            <a:ext cx="12188952" cy="105156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82880"/>
            <a:ext cx="11430000" cy="731520"/>
          </a:xfrm>
          <a:prstGeom prst="rect">
            <a:avLst/>
          </a:prstGeom>
          <a:noFill/>
        </p:spPr>
        <p:txBody>
          <a:bodyPr wrap="square">
            <a:spAutoFit/>
          </a:bodyPr>
          <a:lstStyle/>
          <a:p>
            <a:pPr algn="l"/>
            <a:r>
              <a:rPr sz="3000" b="1" i="0">
                <a:solidFill>
                  <a:srgbClr val="0D0D0D"/>
                </a:solidFill>
                <a:latin typeface="Calibri"/>
              </a:rPr>
              <a:t>Major Innovations</a:t>
            </a:r>
          </a:p>
        </p:txBody>
      </p:sp>
      <p:sp>
        <p:nvSpPr>
          <p:cNvPr id="8" name="Rectangle 7"/>
          <p:cNvSpPr/>
          <p:nvPr/>
        </p:nvSpPr>
        <p:spPr>
          <a:xfrm>
            <a:off x="0" y="1051560"/>
            <a:ext cx="12188952" cy="54864"/>
          </a:xfrm>
          <a:prstGeom prst="rect">
            <a:avLst/>
          </a:prstGeom>
          <a:solidFill>
            <a:srgbClr val="4A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20040" y="1234440"/>
            <a:ext cx="2697480" cy="411480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371600"/>
            <a:ext cx="2423160" cy="1005840"/>
          </a:xfrm>
          <a:prstGeom prst="rect">
            <a:avLst/>
          </a:prstGeom>
          <a:noFill/>
        </p:spPr>
        <p:txBody>
          <a:bodyPr wrap="square">
            <a:spAutoFit/>
          </a:bodyPr>
          <a:lstStyle/>
          <a:p>
            <a:pPr algn="ctr"/>
            <a:r>
              <a:rPr sz="2000" b="1" i="0">
                <a:solidFill>
                  <a:srgbClr val="0D0D0D"/>
                </a:solidFill>
                <a:latin typeface="Calibri"/>
              </a:rPr>
              <a:t>iMac
1998</a:t>
            </a:r>
          </a:p>
        </p:txBody>
      </p:sp>
      <p:sp>
        <p:nvSpPr>
          <p:cNvPr id="11" name="Rectangle 10"/>
          <p:cNvSpPr/>
          <p:nvPr/>
        </p:nvSpPr>
        <p:spPr>
          <a:xfrm>
            <a:off x="411479" y="2423160"/>
            <a:ext cx="2514600" cy="45720"/>
          </a:xfrm>
          <a:prstGeom prst="rect">
            <a:avLst/>
          </a:prstGeom>
          <a:solidFill>
            <a:srgbClr val="4A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2560320"/>
            <a:ext cx="2423160" cy="1371600"/>
          </a:xfrm>
          <a:prstGeom prst="rect">
            <a:avLst/>
          </a:prstGeom>
          <a:noFill/>
        </p:spPr>
        <p:txBody>
          <a:bodyPr wrap="square">
            <a:spAutoFit/>
          </a:bodyPr>
          <a:lstStyle/>
          <a:p>
            <a:pPr algn="ctr"/>
            <a:r>
              <a:rPr sz="1600" b="1" i="0">
                <a:solidFill>
                  <a:srgbClr val="0D0D0D"/>
                </a:solidFill>
                <a:latin typeface="Calibri"/>
              </a:rPr>
              <a:t>Saved Apple from
bankruptcy</a:t>
            </a:r>
          </a:p>
        </p:txBody>
      </p:sp>
      <p:sp>
        <p:nvSpPr>
          <p:cNvPr id="13" name="Rectangle 12"/>
          <p:cNvSpPr/>
          <p:nvPr/>
        </p:nvSpPr>
        <p:spPr>
          <a:xfrm>
            <a:off x="3246120" y="1234440"/>
            <a:ext cx="2697480" cy="411480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383280" y="1371600"/>
            <a:ext cx="2423160" cy="1005840"/>
          </a:xfrm>
          <a:prstGeom prst="rect">
            <a:avLst/>
          </a:prstGeom>
          <a:noFill/>
        </p:spPr>
        <p:txBody>
          <a:bodyPr wrap="square">
            <a:spAutoFit/>
          </a:bodyPr>
          <a:lstStyle/>
          <a:p>
            <a:pPr algn="ctr"/>
            <a:r>
              <a:rPr sz="2000" b="1" i="0">
                <a:solidFill>
                  <a:srgbClr val="0D0D0D"/>
                </a:solidFill>
                <a:latin typeface="Calibri"/>
              </a:rPr>
              <a:t>iPod
2001</a:t>
            </a:r>
          </a:p>
        </p:txBody>
      </p:sp>
      <p:sp>
        <p:nvSpPr>
          <p:cNvPr id="15" name="Rectangle 14"/>
          <p:cNvSpPr/>
          <p:nvPr/>
        </p:nvSpPr>
        <p:spPr>
          <a:xfrm>
            <a:off x="3337560" y="2423160"/>
            <a:ext cx="2514600" cy="45720"/>
          </a:xfrm>
          <a:prstGeom prst="rect">
            <a:avLst/>
          </a:prstGeom>
          <a:solidFill>
            <a:srgbClr val="4A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383280" y="2560320"/>
            <a:ext cx="2423160" cy="1371600"/>
          </a:xfrm>
          <a:prstGeom prst="rect">
            <a:avLst/>
          </a:prstGeom>
          <a:noFill/>
        </p:spPr>
        <p:txBody>
          <a:bodyPr wrap="square">
            <a:spAutoFit/>
          </a:bodyPr>
          <a:lstStyle/>
          <a:p>
            <a:pPr algn="ctr"/>
            <a:r>
              <a:rPr sz="1600" b="1" i="0">
                <a:solidFill>
                  <a:srgbClr val="0D0D0D"/>
                </a:solidFill>
                <a:latin typeface="Calibri"/>
              </a:rPr>
              <a:t>Revolutionized the
music industry</a:t>
            </a:r>
          </a:p>
        </p:txBody>
      </p:sp>
      <p:sp>
        <p:nvSpPr>
          <p:cNvPr id="17" name="Rectangle 16"/>
          <p:cNvSpPr/>
          <p:nvPr/>
        </p:nvSpPr>
        <p:spPr>
          <a:xfrm>
            <a:off x="6172200" y="1234440"/>
            <a:ext cx="2697480" cy="411480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09360" y="1371600"/>
            <a:ext cx="2423160" cy="1005840"/>
          </a:xfrm>
          <a:prstGeom prst="rect">
            <a:avLst/>
          </a:prstGeom>
          <a:noFill/>
        </p:spPr>
        <p:txBody>
          <a:bodyPr wrap="square">
            <a:spAutoFit/>
          </a:bodyPr>
          <a:lstStyle/>
          <a:p>
            <a:pPr algn="ctr"/>
            <a:r>
              <a:rPr sz="2000" b="1" i="0">
                <a:solidFill>
                  <a:srgbClr val="0D0D0D"/>
                </a:solidFill>
                <a:latin typeface="Calibri"/>
              </a:rPr>
              <a:t>iPhone
2007</a:t>
            </a:r>
          </a:p>
        </p:txBody>
      </p:sp>
      <p:sp>
        <p:nvSpPr>
          <p:cNvPr id="19" name="Rectangle 18"/>
          <p:cNvSpPr/>
          <p:nvPr/>
        </p:nvSpPr>
        <p:spPr>
          <a:xfrm>
            <a:off x="6263640" y="2423160"/>
            <a:ext cx="2514600" cy="45720"/>
          </a:xfrm>
          <a:prstGeom prst="rect">
            <a:avLst/>
          </a:prstGeom>
          <a:solidFill>
            <a:srgbClr val="4A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09360" y="2560320"/>
            <a:ext cx="2423160" cy="1371600"/>
          </a:xfrm>
          <a:prstGeom prst="rect">
            <a:avLst/>
          </a:prstGeom>
          <a:noFill/>
        </p:spPr>
        <p:txBody>
          <a:bodyPr wrap="square">
            <a:spAutoFit/>
          </a:bodyPr>
          <a:lstStyle/>
          <a:p>
            <a:pPr algn="ctr"/>
            <a:r>
              <a:rPr sz="1600" b="1" i="0">
                <a:solidFill>
                  <a:srgbClr val="0D0D0D"/>
                </a:solidFill>
                <a:latin typeface="Calibri"/>
              </a:rPr>
              <a:t>Changed the entire
smartphone world</a:t>
            </a:r>
          </a:p>
        </p:txBody>
      </p:sp>
      <p:sp>
        <p:nvSpPr>
          <p:cNvPr id="21" name="Rectangle 20"/>
          <p:cNvSpPr/>
          <p:nvPr/>
        </p:nvSpPr>
        <p:spPr>
          <a:xfrm>
            <a:off x="9098280" y="1234440"/>
            <a:ext cx="2697480" cy="411480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235440" y="1371600"/>
            <a:ext cx="2423160" cy="1005840"/>
          </a:xfrm>
          <a:prstGeom prst="rect">
            <a:avLst/>
          </a:prstGeom>
          <a:noFill/>
        </p:spPr>
        <p:txBody>
          <a:bodyPr wrap="square">
            <a:spAutoFit/>
          </a:bodyPr>
          <a:lstStyle/>
          <a:p>
            <a:pPr algn="ctr"/>
            <a:r>
              <a:rPr sz="2000" b="1" i="0">
                <a:solidFill>
                  <a:srgbClr val="0D0D0D"/>
                </a:solidFill>
                <a:latin typeface="Calibri"/>
              </a:rPr>
              <a:t>iPad
2010</a:t>
            </a:r>
          </a:p>
        </p:txBody>
      </p:sp>
      <p:sp>
        <p:nvSpPr>
          <p:cNvPr id="23" name="Rectangle 22"/>
          <p:cNvSpPr/>
          <p:nvPr/>
        </p:nvSpPr>
        <p:spPr>
          <a:xfrm>
            <a:off x="9189720" y="2423160"/>
            <a:ext cx="2514600" cy="45720"/>
          </a:xfrm>
          <a:prstGeom prst="rect">
            <a:avLst/>
          </a:prstGeom>
          <a:solidFill>
            <a:srgbClr val="4A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235440" y="2560320"/>
            <a:ext cx="2423160" cy="1371600"/>
          </a:xfrm>
          <a:prstGeom prst="rect">
            <a:avLst/>
          </a:prstGeom>
          <a:noFill/>
        </p:spPr>
        <p:txBody>
          <a:bodyPr wrap="square">
            <a:spAutoFit/>
          </a:bodyPr>
          <a:lstStyle/>
          <a:p>
            <a:pPr algn="ctr"/>
            <a:r>
              <a:rPr sz="1600" b="1" i="0">
                <a:solidFill>
                  <a:srgbClr val="0D0D0D"/>
                </a:solidFill>
                <a:latin typeface="Calibri"/>
              </a:rPr>
              <a:t>Created a brand
new tablet market</a:t>
            </a:r>
          </a:p>
        </p:txBody>
      </p:sp>
      <p:sp>
        <p:nvSpPr>
          <p:cNvPr id="25" name="TextBox 24"/>
          <p:cNvSpPr txBox="1"/>
          <p:nvPr/>
        </p:nvSpPr>
        <p:spPr>
          <a:xfrm>
            <a:off x="365760" y="5532120"/>
            <a:ext cx="11430000" cy="457200"/>
          </a:xfrm>
          <a:prstGeom prst="rect">
            <a:avLst/>
          </a:prstGeom>
          <a:noFill/>
        </p:spPr>
        <p:txBody>
          <a:bodyPr wrap="square">
            <a:spAutoFit/>
          </a:bodyPr>
          <a:lstStyle/>
          <a:p>
            <a:pPr algn="ctr"/>
            <a:r>
              <a:rPr sz="1800" b="1" i="1">
                <a:solidFill>
                  <a:srgbClr val="4AA0A0"/>
                </a:solidFill>
                <a:latin typeface="Calibri"/>
              </a:rPr>
              <a:t>These products changed the entire technology industry.</a:t>
            </a:r>
          </a:p>
        </p:txBody>
      </p:sp>
      <p:pic>
        <p:nvPicPr>
          <p:cNvPr id="7170" name="Picture 2" descr="Academics – Mawlana Bhashani Science and Technology ...">
            <a:extLst>
              <a:ext uri="{FF2B5EF4-FFF2-40B4-BE49-F238E27FC236}">
                <a16:creationId xmlns:a16="http://schemas.microsoft.com/office/drawing/2014/main" id="{1972D4BC-6AF5-886B-16E1-B81DBAD347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69909" y="5171276"/>
            <a:ext cx="1824909" cy="168672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0DC"/>
        </a:solidFill>
        <a:effectLst/>
      </p:bgPr>
    </p:bg>
    <p:spTree>
      <p:nvGrpSpPr>
        <p:cNvPr id="1" name=""/>
        <p:cNvGrpSpPr/>
        <p:nvPr/>
      </p:nvGrpSpPr>
      <p:grpSpPr>
        <a:xfrm>
          <a:off x="0" y="0"/>
          <a:ext cx="0" cy="0"/>
          <a:chOff x="0" y="0"/>
          <a:chExt cx="0" cy="0"/>
        </a:xfrm>
      </p:grpSpPr>
      <p:sp>
        <p:nvSpPr>
          <p:cNvPr id="2" name="Rectangle 1"/>
          <p:cNvSpPr/>
          <p:nvPr/>
        </p:nvSpPr>
        <p:spPr>
          <a:xfrm>
            <a:off x="5257800" y="109728"/>
            <a:ext cx="1005840" cy="777240"/>
          </a:xfrm>
          <a:prstGeom prst="rect">
            <a:avLst/>
          </a:prstGeom>
          <a:solidFill>
            <a:srgbClr val="E8E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532120" y="246888"/>
            <a:ext cx="457200" cy="502920"/>
          </a:xfrm>
          <a:prstGeom prst="rect">
            <a:avLst/>
          </a:prstGeom>
          <a:solidFill>
            <a:srgbClr val="8B1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724144" y="-45720"/>
            <a:ext cx="73152" cy="182880"/>
          </a:xfrm>
          <a:prstGeom prst="rect">
            <a:avLst/>
          </a:prstGeom>
          <a:solidFill>
            <a:srgbClr val="C8A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754879" y="868680"/>
            <a:ext cx="2011680" cy="274320"/>
          </a:xfrm>
          <a:prstGeom prst="rect">
            <a:avLst/>
          </a:prstGeom>
          <a:noFill/>
        </p:spPr>
        <p:txBody>
          <a:bodyPr wrap="square">
            <a:spAutoFit/>
          </a:bodyPr>
          <a:lstStyle/>
          <a:p>
            <a:pPr algn="ctr"/>
            <a:r>
              <a:rPr sz="800" b="0" i="0">
                <a:solidFill>
                  <a:srgbClr val="555555"/>
                </a:solidFill>
                <a:latin typeface="Calibri"/>
              </a:rPr>
              <a:t>MBSTU</a:t>
            </a:r>
          </a:p>
        </p:txBody>
      </p:sp>
      <p:sp>
        <p:nvSpPr>
          <p:cNvPr id="6" name="Rectangle 5"/>
          <p:cNvSpPr/>
          <p:nvPr/>
        </p:nvSpPr>
        <p:spPr>
          <a:xfrm>
            <a:off x="0" y="0"/>
            <a:ext cx="12188952" cy="105156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82880"/>
            <a:ext cx="11430000" cy="731520"/>
          </a:xfrm>
          <a:prstGeom prst="rect">
            <a:avLst/>
          </a:prstGeom>
          <a:noFill/>
        </p:spPr>
        <p:txBody>
          <a:bodyPr wrap="square">
            <a:spAutoFit/>
          </a:bodyPr>
          <a:lstStyle/>
          <a:p>
            <a:pPr algn="l"/>
            <a:r>
              <a:rPr sz="3000" b="1" i="0">
                <a:solidFill>
                  <a:srgbClr val="0D0D0D"/>
                </a:solidFill>
                <a:latin typeface="Calibri"/>
              </a:rPr>
              <a:t>Leadership Style</a:t>
            </a:r>
          </a:p>
        </p:txBody>
      </p:sp>
      <p:sp>
        <p:nvSpPr>
          <p:cNvPr id="8" name="Rectangle 7"/>
          <p:cNvSpPr/>
          <p:nvPr/>
        </p:nvSpPr>
        <p:spPr>
          <a:xfrm>
            <a:off x="0" y="1051560"/>
            <a:ext cx="12188952" cy="54864"/>
          </a:xfrm>
          <a:prstGeom prst="rect">
            <a:avLst/>
          </a:prstGeom>
          <a:solidFill>
            <a:srgbClr val="4A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1234440"/>
            <a:ext cx="11430000" cy="411480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1399032"/>
            <a:ext cx="11109960" cy="1923604"/>
          </a:xfrm>
          <a:prstGeom prst="rect">
            <a:avLst/>
          </a:prstGeom>
          <a:noFill/>
        </p:spPr>
        <p:txBody>
          <a:bodyPr wrap="square">
            <a:spAutoFit/>
          </a:bodyPr>
          <a:lstStyle/>
          <a:p>
            <a:r>
              <a:rPr sz="1800" b="1" dirty="0">
                <a:solidFill>
                  <a:srgbClr val="0D0D0D"/>
                </a:solidFill>
                <a:latin typeface="Calibri"/>
              </a:rPr>
              <a:t>•  Jobs had an obsessive commitment to simplicity and perfection. He believed design was about how things worked, not just looked — even insisting internal components be beautifully arranged.</a:t>
            </a:r>
            <a:endParaRPr lang="en-US" sz="1800" b="1" dirty="0">
              <a:solidFill>
                <a:srgbClr val="0D0D0D"/>
              </a:solidFill>
              <a:latin typeface="Calibri"/>
            </a:endParaRPr>
          </a:p>
          <a:p>
            <a:endParaRPr sz="1800" b="1" dirty="0">
              <a:solidFill>
                <a:srgbClr val="0D0D0D"/>
              </a:solidFill>
              <a:latin typeface="Calibri"/>
            </a:endParaRPr>
          </a:p>
          <a:p>
            <a:r>
              <a:rPr sz="1800" b="1" dirty="0">
                <a:solidFill>
                  <a:srgbClr val="0D0D0D"/>
                </a:solidFill>
                <a:latin typeface="Calibri"/>
              </a:rPr>
              <a:t>•  Jobs championed innovation and original thinking. He hired from diverse creative backgrounds and built a culture at Apple where bold ideas were celebrated.</a:t>
            </a:r>
            <a:endParaRPr lang="en-US" sz="1800" b="1" dirty="0">
              <a:solidFill>
                <a:srgbClr val="0D0D0D"/>
              </a:solidFill>
              <a:latin typeface="Calibri"/>
            </a:endParaRPr>
          </a:p>
          <a:p>
            <a:endParaRPr sz="1800" b="1" dirty="0">
              <a:solidFill>
                <a:srgbClr val="0D0D0D"/>
              </a:solidFill>
              <a:latin typeface="Calibri"/>
            </a:endParaRPr>
          </a:p>
          <a:p>
            <a:r>
              <a:rPr sz="1800" b="1" dirty="0">
                <a:solidFill>
                  <a:srgbClr val="0D0D0D"/>
                </a:solidFill>
                <a:latin typeface="Calibri"/>
              </a:rPr>
              <a:t>•  Jobs was notoriously demanding, pushing teams to scrap and restart work that wasn’t good enough. Many who worked with him say his pressure forced them to exceed what they thought possible.</a:t>
            </a:r>
            <a:endParaRPr lang="en-US" sz="1800" b="1" dirty="0">
              <a:solidFill>
                <a:srgbClr val="0D0D0D"/>
              </a:solidFill>
              <a:latin typeface="Calibri"/>
            </a:endParaRPr>
          </a:p>
          <a:p>
            <a:endParaRPr sz="1800" b="1" dirty="0">
              <a:solidFill>
                <a:srgbClr val="0D0D0D"/>
              </a:solidFill>
              <a:latin typeface="Calibri"/>
            </a:endParaRPr>
          </a:p>
          <a:p>
            <a:r>
              <a:rPr sz="1800" b="1" dirty="0">
                <a:solidFill>
                  <a:srgbClr val="0D0D0D"/>
                </a:solidFill>
                <a:latin typeface="Calibri"/>
              </a:rPr>
              <a:t>•  Jobs always started with the user experience and worked backwards to the technology. This philosophy produced products millions loved — not just machines that worked, but ones that felt magical.</a:t>
            </a:r>
          </a:p>
        </p:txBody>
      </p:sp>
      <p:pic>
        <p:nvPicPr>
          <p:cNvPr id="8194" name="Picture 2" descr="Academics – Mawlana Bhashani Science and Technology ...">
            <a:extLst>
              <a:ext uri="{FF2B5EF4-FFF2-40B4-BE49-F238E27FC236}">
                <a16:creationId xmlns:a16="http://schemas.microsoft.com/office/drawing/2014/main" id="{45DA9758-EBC9-FD6F-61F0-33CA7F2BFF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92430" y="5191432"/>
            <a:ext cx="2000250" cy="161037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0DC"/>
        </a:solidFill>
        <a:effectLst/>
      </p:bgPr>
    </p:bg>
    <p:spTree>
      <p:nvGrpSpPr>
        <p:cNvPr id="1" name=""/>
        <p:cNvGrpSpPr/>
        <p:nvPr/>
      </p:nvGrpSpPr>
      <p:grpSpPr>
        <a:xfrm>
          <a:off x="0" y="0"/>
          <a:ext cx="0" cy="0"/>
          <a:chOff x="0" y="0"/>
          <a:chExt cx="0" cy="0"/>
        </a:xfrm>
      </p:grpSpPr>
      <p:sp>
        <p:nvSpPr>
          <p:cNvPr id="2" name="Rectangle 1"/>
          <p:cNvSpPr/>
          <p:nvPr/>
        </p:nvSpPr>
        <p:spPr>
          <a:xfrm>
            <a:off x="5257800" y="109728"/>
            <a:ext cx="1005840" cy="777240"/>
          </a:xfrm>
          <a:prstGeom prst="rect">
            <a:avLst/>
          </a:prstGeom>
          <a:solidFill>
            <a:srgbClr val="E8E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532120" y="246888"/>
            <a:ext cx="457200" cy="502920"/>
          </a:xfrm>
          <a:prstGeom prst="rect">
            <a:avLst/>
          </a:prstGeom>
          <a:solidFill>
            <a:srgbClr val="8B1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724144" y="-45720"/>
            <a:ext cx="73152" cy="182880"/>
          </a:xfrm>
          <a:prstGeom prst="rect">
            <a:avLst/>
          </a:prstGeom>
          <a:solidFill>
            <a:srgbClr val="C8A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754879" y="868680"/>
            <a:ext cx="2011680" cy="274320"/>
          </a:xfrm>
          <a:prstGeom prst="rect">
            <a:avLst/>
          </a:prstGeom>
          <a:noFill/>
        </p:spPr>
        <p:txBody>
          <a:bodyPr wrap="square">
            <a:spAutoFit/>
          </a:bodyPr>
          <a:lstStyle/>
          <a:p>
            <a:pPr algn="ctr"/>
            <a:r>
              <a:rPr sz="800" b="0" i="0">
                <a:solidFill>
                  <a:srgbClr val="555555"/>
                </a:solidFill>
                <a:latin typeface="Calibri"/>
              </a:rPr>
              <a:t>MBSTU</a:t>
            </a:r>
          </a:p>
        </p:txBody>
      </p:sp>
      <p:sp>
        <p:nvSpPr>
          <p:cNvPr id="6" name="Rectangle 5"/>
          <p:cNvSpPr/>
          <p:nvPr/>
        </p:nvSpPr>
        <p:spPr>
          <a:xfrm>
            <a:off x="0" y="0"/>
            <a:ext cx="12188952" cy="105156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82880"/>
            <a:ext cx="11430000" cy="731520"/>
          </a:xfrm>
          <a:prstGeom prst="rect">
            <a:avLst/>
          </a:prstGeom>
          <a:noFill/>
        </p:spPr>
        <p:txBody>
          <a:bodyPr wrap="square">
            <a:spAutoFit/>
          </a:bodyPr>
          <a:lstStyle/>
          <a:p>
            <a:pPr algn="l"/>
            <a:r>
              <a:rPr sz="3000" b="1" i="0">
                <a:solidFill>
                  <a:srgbClr val="0D0D0D"/>
                </a:solidFill>
                <a:latin typeface="Calibri"/>
              </a:rPr>
              <a:t>Death &amp; Legacy</a:t>
            </a:r>
          </a:p>
        </p:txBody>
      </p:sp>
      <p:sp>
        <p:nvSpPr>
          <p:cNvPr id="8" name="Rectangle 7"/>
          <p:cNvSpPr/>
          <p:nvPr/>
        </p:nvSpPr>
        <p:spPr>
          <a:xfrm>
            <a:off x="0" y="1051560"/>
            <a:ext cx="12188952" cy="54864"/>
          </a:xfrm>
          <a:prstGeom prst="rect">
            <a:avLst/>
          </a:prstGeom>
          <a:solidFill>
            <a:srgbClr val="4A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1234440"/>
            <a:ext cx="11430000" cy="3474720"/>
          </a:xfrm>
          <a:prstGeom prst="rect">
            <a:avLst/>
          </a:prstGeom>
          <a:solidFill>
            <a:srgbClr val="7E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1399032"/>
            <a:ext cx="11109960" cy="1923604"/>
          </a:xfrm>
          <a:prstGeom prst="rect">
            <a:avLst/>
          </a:prstGeom>
          <a:noFill/>
        </p:spPr>
        <p:txBody>
          <a:bodyPr wrap="square">
            <a:spAutoFit/>
          </a:bodyPr>
          <a:lstStyle/>
          <a:p>
            <a:r>
              <a:rPr sz="1800" b="1" dirty="0">
                <a:solidFill>
                  <a:srgbClr val="0D0D0D"/>
                </a:solidFill>
                <a:latin typeface="Calibri"/>
              </a:rPr>
              <a:t>•  Steve Jobs passed away on October 5, 2011, age 56, from pancreatic cancer he had battled since 2003. His death was mourned by leaders, artists, and millions worldwide.</a:t>
            </a:r>
            <a:endParaRPr lang="en-US" sz="1800" b="1" dirty="0">
              <a:solidFill>
                <a:srgbClr val="0D0D0D"/>
              </a:solidFill>
              <a:latin typeface="Calibri"/>
            </a:endParaRPr>
          </a:p>
          <a:p>
            <a:endParaRPr sz="1800" b="1" dirty="0">
              <a:solidFill>
                <a:srgbClr val="0D0D0D"/>
              </a:solidFill>
              <a:latin typeface="Calibri"/>
            </a:endParaRPr>
          </a:p>
          <a:p>
            <a:r>
              <a:rPr sz="1800" b="1" dirty="0">
                <a:solidFill>
                  <a:srgbClr val="0D0D0D"/>
                </a:solidFill>
                <a:latin typeface="Calibri"/>
              </a:rPr>
              <a:t>•  Jobs’ legacy lives on through Apple’s culture of simplicity and design excellence. Apple became the first $1 trillion company in 2018, a direct result of the standards he set.</a:t>
            </a:r>
            <a:endParaRPr lang="en-US" sz="1800" b="1" dirty="0">
              <a:solidFill>
                <a:srgbClr val="0D0D0D"/>
              </a:solidFill>
              <a:latin typeface="Calibri"/>
            </a:endParaRPr>
          </a:p>
          <a:p>
            <a:endParaRPr sz="1800" b="1" dirty="0">
              <a:solidFill>
                <a:srgbClr val="0D0D0D"/>
              </a:solidFill>
              <a:latin typeface="Calibri"/>
            </a:endParaRPr>
          </a:p>
          <a:p>
            <a:r>
              <a:rPr sz="1800" b="1" dirty="0">
                <a:solidFill>
                  <a:srgbClr val="0D0D0D"/>
                </a:solidFill>
                <a:latin typeface="Calibri"/>
              </a:rPr>
              <a:t>•  Jobs transformed six industries: personal computers, animated films, music, mobile phones, tablets, and digital retail. Time named him one of the 100 most influential people of the 20th century.</a:t>
            </a:r>
            <a:endParaRPr lang="en-US" sz="1800" b="1" dirty="0">
              <a:solidFill>
                <a:srgbClr val="0D0D0D"/>
              </a:solidFill>
              <a:latin typeface="Calibri"/>
            </a:endParaRPr>
          </a:p>
          <a:p>
            <a:endParaRPr sz="1800" b="1" dirty="0">
              <a:solidFill>
                <a:srgbClr val="0D0D0D"/>
              </a:solidFill>
              <a:latin typeface="Calibri"/>
            </a:endParaRPr>
          </a:p>
          <a:p>
            <a:r>
              <a:rPr sz="1800" b="1" dirty="0">
                <a:solidFill>
                  <a:srgbClr val="0D0D0D"/>
                </a:solidFill>
                <a:latin typeface="Calibri"/>
              </a:rPr>
              <a:t>•  His most famous words, from a 2005 Stanford commencement: “Stay Hungry. Stay Foolish.” — a call to keep learning and follow your instincts. They continue to inspire innovators worldwide.</a:t>
            </a:r>
          </a:p>
        </p:txBody>
      </p:sp>
      <p:sp>
        <p:nvSpPr>
          <p:cNvPr id="11" name="Rectangle 10"/>
          <p:cNvSpPr/>
          <p:nvPr/>
        </p:nvSpPr>
        <p:spPr>
          <a:xfrm>
            <a:off x="365760" y="5029200"/>
            <a:ext cx="11430000" cy="1463040"/>
          </a:xfrm>
          <a:prstGeom prst="rect">
            <a:avLst/>
          </a:prstGeom>
          <a:solidFill>
            <a:srgbClr val="4A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5230368"/>
            <a:ext cx="11064240" cy="731520"/>
          </a:xfrm>
          <a:prstGeom prst="rect">
            <a:avLst/>
          </a:prstGeom>
          <a:noFill/>
        </p:spPr>
        <p:txBody>
          <a:bodyPr wrap="square">
            <a:spAutoFit/>
          </a:bodyPr>
          <a:lstStyle/>
          <a:p>
            <a:pPr algn="ctr"/>
            <a:r>
              <a:rPr sz="2200" b="1" i="1">
                <a:solidFill>
                  <a:srgbClr val="F5F0DC"/>
                </a:solidFill>
                <a:latin typeface="Calibri"/>
              </a:rPr>
              <a:t>"Stay Hungry. Stay Foolish."  — Steve Jobs</a:t>
            </a:r>
          </a:p>
        </p:txBody>
      </p:sp>
      <p:pic>
        <p:nvPicPr>
          <p:cNvPr id="9218" name="Picture 2" descr="Academics – Mawlana Bhashani Science and Technology ...">
            <a:extLst>
              <a:ext uri="{FF2B5EF4-FFF2-40B4-BE49-F238E27FC236}">
                <a16:creationId xmlns:a16="http://schemas.microsoft.com/office/drawing/2014/main" id="{46C79839-6F18-4478-FD32-A0334975FE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35927" y="4813198"/>
            <a:ext cx="2000250" cy="19907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136</TotalTime>
  <Words>2434</Words>
  <Application>Microsoft Office PowerPoint</Application>
  <PresentationFormat>Custom</PresentationFormat>
  <Paragraphs>98</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Hp</dc:creator>
  <cp:keywords/>
  <dc:description>generated using python-pptx</dc:description>
  <cp:lastModifiedBy>Hp</cp:lastModifiedBy>
  <cp:revision>4</cp:revision>
  <dcterms:created xsi:type="dcterms:W3CDTF">2013-01-27T09:14:16Z</dcterms:created>
  <dcterms:modified xsi:type="dcterms:W3CDTF">2026-05-02T15:23:29Z</dcterms:modified>
  <cp:category/>
</cp:coreProperties>
</file>